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Impact" charset="1" panose="020B0806030902050204"/>
      <p:regular r:id="rId18"/>
    </p:embeddedFont>
    <p:embeddedFont>
      <p:font typeface="Poppins"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366517">
            <a:off x="8172982" y="-1473762"/>
            <a:ext cx="12307770" cy="7200900"/>
          </a:xfrm>
          <a:custGeom>
            <a:avLst/>
            <a:gdLst/>
            <a:ahLst/>
            <a:cxnLst/>
            <a:rect r="r" b="b" t="t" l="l"/>
            <a:pathLst>
              <a:path h="7200900" w="12307770">
                <a:moveTo>
                  <a:pt x="0" y="0"/>
                </a:moveTo>
                <a:lnTo>
                  <a:pt x="12307770" y="0"/>
                </a:lnTo>
                <a:lnTo>
                  <a:pt x="12307770"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493551">
            <a:off x="-3091661" y="3509943"/>
            <a:ext cx="15325477" cy="8242765"/>
          </a:xfrm>
          <a:custGeom>
            <a:avLst/>
            <a:gdLst/>
            <a:ahLst/>
            <a:cxnLst/>
            <a:rect r="r" b="b" t="t" l="l"/>
            <a:pathLst>
              <a:path h="8242765" w="15325477">
                <a:moveTo>
                  <a:pt x="0" y="0"/>
                </a:moveTo>
                <a:lnTo>
                  <a:pt x="15325477" y="0"/>
                </a:lnTo>
                <a:lnTo>
                  <a:pt x="15325477" y="8242765"/>
                </a:lnTo>
                <a:lnTo>
                  <a:pt x="0" y="82427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350042" y="349542"/>
            <a:ext cx="9587917" cy="9587917"/>
          </a:xfrm>
          <a:custGeom>
            <a:avLst/>
            <a:gdLst/>
            <a:ahLst/>
            <a:cxnLst/>
            <a:rect r="r" b="b" t="t" l="l"/>
            <a:pathLst>
              <a:path h="9587917" w="9587917">
                <a:moveTo>
                  <a:pt x="0" y="0"/>
                </a:moveTo>
                <a:lnTo>
                  <a:pt x="9587916" y="0"/>
                </a:lnTo>
                <a:lnTo>
                  <a:pt x="9587916" y="9587916"/>
                </a:lnTo>
                <a:lnTo>
                  <a:pt x="0" y="9587916"/>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984372" y="3676731"/>
            <a:ext cx="14319257" cy="2841153"/>
          </a:xfrm>
          <a:prstGeom prst="rect">
            <a:avLst/>
          </a:prstGeom>
        </p:spPr>
        <p:txBody>
          <a:bodyPr anchor="t" rtlCol="false" tIns="0" lIns="0" bIns="0" rIns="0">
            <a:spAutoFit/>
          </a:bodyPr>
          <a:lstStyle/>
          <a:p>
            <a:pPr algn="ctr">
              <a:lnSpc>
                <a:spcPts val="20851"/>
              </a:lnSpc>
            </a:pPr>
            <a:r>
              <a:rPr lang="en-US" sz="14893">
                <a:solidFill>
                  <a:srgbClr val="FFFFFF"/>
                </a:solidFill>
                <a:latin typeface="Impact"/>
                <a:ea typeface="Impact"/>
                <a:cs typeface="Impact"/>
                <a:sym typeface="Impact"/>
              </a:rPr>
              <a:t>BGP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3433588" y="5806884"/>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64621" y="-753127"/>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577476" y="5753701"/>
            <a:ext cx="11301259" cy="4110833"/>
          </a:xfrm>
          <a:custGeom>
            <a:avLst/>
            <a:gdLst/>
            <a:ahLst/>
            <a:cxnLst/>
            <a:rect r="r" b="b" t="t" l="l"/>
            <a:pathLst>
              <a:path h="4110833" w="11301259">
                <a:moveTo>
                  <a:pt x="0" y="0"/>
                </a:moveTo>
                <a:lnTo>
                  <a:pt x="11301259" y="0"/>
                </a:lnTo>
                <a:lnTo>
                  <a:pt x="11301259" y="4110833"/>
                </a:lnTo>
                <a:lnTo>
                  <a:pt x="0" y="4110833"/>
                </a:lnTo>
                <a:lnTo>
                  <a:pt x="0" y="0"/>
                </a:lnTo>
                <a:close/>
              </a:path>
            </a:pathLst>
          </a:custGeom>
          <a:blipFill>
            <a:blip r:embed="rId4"/>
            <a:stretch>
              <a:fillRect l="0" t="0" r="0" b="0"/>
            </a:stretch>
          </a:blipFill>
        </p:spPr>
      </p:sp>
      <p:sp>
        <p:nvSpPr>
          <p:cNvPr name="TextBox 5" id="5"/>
          <p:cNvSpPr txBox="true"/>
          <p:nvPr/>
        </p:nvSpPr>
        <p:spPr>
          <a:xfrm rot="0">
            <a:off x="1265436" y="2246115"/>
            <a:ext cx="8565580" cy="2744177"/>
          </a:xfrm>
          <a:prstGeom prst="rect">
            <a:avLst/>
          </a:prstGeom>
        </p:spPr>
        <p:txBody>
          <a:bodyPr anchor="t" rtlCol="false" tIns="0" lIns="0" bIns="0" rIns="0">
            <a:spAutoFit/>
          </a:bodyPr>
          <a:lstStyle/>
          <a:p>
            <a:pPr algn="just">
              <a:lnSpc>
                <a:spcPts val="3621"/>
              </a:lnSpc>
            </a:pPr>
            <a:r>
              <a:rPr lang="en-US" sz="2586">
                <a:solidFill>
                  <a:srgbClr val="FFFFFF"/>
                </a:solidFill>
                <a:latin typeface="Poppins"/>
                <a:ea typeface="Poppins"/>
                <a:cs typeface="Poppins"/>
                <a:sym typeface="Poppins"/>
              </a:rPr>
              <a:t>BGP (Border Gateway Protocol), internet üzerindeki farklı ağların (Autonomous Systems – AS) birbirleriyle iletişim kurmasını sağlayan yönlendirme protokolüdür.</a:t>
            </a:r>
          </a:p>
          <a:p>
            <a:pPr algn="just">
              <a:lnSpc>
                <a:spcPts val="3621"/>
              </a:lnSpc>
            </a:pPr>
          </a:p>
          <a:p>
            <a:pPr algn="just">
              <a:lnSpc>
                <a:spcPts val="3621"/>
              </a:lnSpc>
            </a:pPr>
          </a:p>
        </p:txBody>
      </p:sp>
      <p:sp>
        <p:nvSpPr>
          <p:cNvPr name="TextBox 6" id="6"/>
          <p:cNvSpPr txBox="true"/>
          <p:nvPr/>
        </p:nvSpPr>
        <p:spPr>
          <a:xfrm rot="0">
            <a:off x="1265436" y="430773"/>
            <a:ext cx="6640906" cy="1610541"/>
          </a:xfrm>
          <a:prstGeom prst="rect">
            <a:avLst/>
          </a:prstGeom>
        </p:spPr>
        <p:txBody>
          <a:bodyPr anchor="t" rtlCol="false" tIns="0" lIns="0" bIns="0" rIns="0">
            <a:spAutoFit/>
          </a:bodyPr>
          <a:lstStyle/>
          <a:p>
            <a:pPr algn="just">
              <a:lnSpc>
                <a:spcPts val="11000"/>
              </a:lnSpc>
            </a:pPr>
            <a:r>
              <a:rPr lang="en-US" sz="9734">
                <a:solidFill>
                  <a:srgbClr val="FFFFFF"/>
                </a:solidFill>
                <a:latin typeface="Impact"/>
                <a:ea typeface="Impact"/>
                <a:cs typeface="Impact"/>
                <a:sym typeface="Impact"/>
              </a:rPr>
              <a:t>BGP NEDİR?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3433588" y="5806884"/>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64621" y="-753127"/>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873060" y="2670002"/>
            <a:ext cx="9187868" cy="5764937"/>
          </a:xfrm>
          <a:custGeom>
            <a:avLst/>
            <a:gdLst/>
            <a:ahLst/>
            <a:cxnLst/>
            <a:rect r="r" b="b" t="t" l="l"/>
            <a:pathLst>
              <a:path h="5764937" w="9187868">
                <a:moveTo>
                  <a:pt x="0" y="0"/>
                </a:moveTo>
                <a:lnTo>
                  <a:pt x="9187869" y="0"/>
                </a:lnTo>
                <a:lnTo>
                  <a:pt x="9187869" y="5764937"/>
                </a:lnTo>
                <a:lnTo>
                  <a:pt x="0" y="5764937"/>
                </a:lnTo>
                <a:lnTo>
                  <a:pt x="0" y="0"/>
                </a:lnTo>
                <a:close/>
              </a:path>
            </a:pathLst>
          </a:custGeom>
          <a:blipFill>
            <a:blip r:embed="rId4"/>
            <a:stretch>
              <a:fillRect l="0" t="0" r="0" b="0"/>
            </a:stretch>
          </a:blipFill>
        </p:spPr>
      </p:sp>
      <p:sp>
        <p:nvSpPr>
          <p:cNvPr name="TextBox 5" id="5"/>
          <p:cNvSpPr txBox="true"/>
          <p:nvPr/>
        </p:nvSpPr>
        <p:spPr>
          <a:xfrm rot="0">
            <a:off x="4318367" y="421364"/>
            <a:ext cx="8742561" cy="1844040"/>
          </a:xfrm>
          <a:prstGeom prst="rect">
            <a:avLst/>
          </a:prstGeom>
        </p:spPr>
        <p:txBody>
          <a:bodyPr anchor="t" rtlCol="false" tIns="0" lIns="0" bIns="0" rIns="0">
            <a:spAutoFit/>
          </a:bodyPr>
          <a:lstStyle/>
          <a:p>
            <a:pPr algn="l">
              <a:lnSpc>
                <a:spcPts val="6780"/>
              </a:lnSpc>
            </a:pPr>
            <a:r>
              <a:rPr lang="en-US" sz="6000">
                <a:solidFill>
                  <a:srgbClr val="FFFFFF"/>
                </a:solidFill>
                <a:latin typeface="Impact"/>
                <a:ea typeface="Impact"/>
                <a:cs typeface="Impact"/>
                <a:sym typeface="Impact"/>
              </a:rPr>
              <a:t>DINAMIK YÖNLENDIRME PROTOKOLLERI VE BGP NIN YERI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3433588" y="5806884"/>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028685" y="718791"/>
            <a:ext cx="7060793" cy="6649983"/>
          </a:xfrm>
          <a:custGeom>
            <a:avLst/>
            <a:gdLst/>
            <a:ahLst/>
            <a:cxnLst/>
            <a:rect r="r" b="b" t="t" l="l"/>
            <a:pathLst>
              <a:path h="6649983" w="7060793">
                <a:moveTo>
                  <a:pt x="0" y="0"/>
                </a:moveTo>
                <a:lnTo>
                  <a:pt x="7060794" y="0"/>
                </a:lnTo>
                <a:lnTo>
                  <a:pt x="7060794" y="6649983"/>
                </a:lnTo>
                <a:lnTo>
                  <a:pt x="0" y="664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664621" y="-753127"/>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576676" y="2539133"/>
            <a:ext cx="8565580" cy="6858977"/>
          </a:xfrm>
          <a:prstGeom prst="rect">
            <a:avLst/>
          </a:prstGeom>
        </p:spPr>
        <p:txBody>
          <a:bodyPr anchor="t" rtlCol="false" tIns="0" lIns="0" bIns="0" rIns="0">
            <a:spAutoFit/>
          </a:bodyPr>
          <a:lstStyle/>
          <a:p>
            <a:pPr algn="just">
              <a:lnSpc>
                <a:spcPts val="3621"/>
              </a:lnSpc>
            </a:pPr>
            <a:r>
              <a:rPr lang="en-US" sz="2586">
                <a:solidFill>
                  <a:srgbClr val="FFFFFF"/>
                </a:solidFill>
                <a:latin typeface="Poppins"/>
                <a:ea typeface="Poppins"/>
                <a:cs typeface="Poppins"/>
                <a:sym typeface="Poppins"/>
              </a:rPr>
              <a:t>BGP, farklı internet ağları (AS – Autonomous Systems) arasında en iyi yolu bulmak için bilgi paylaşan bir protokoldür.</a:t>
            </a:r>
          </a:p>
          <a:p>
            <a:pPr algn="just" marL="558436" indent="-279218" lvl="1">
              <a:lnSpc>
                <a:spcPts val="3621"/>
              </a:lnSpc>
              <a:buFont typeface="Arial"/>
              <a:buChar char="•"/>
            </a:pPr>
            <a:r>
              <a:rPr lang="en-US" sz="2586">
                <a:solidFill>
                  <a:srgbClr val="FFFFFF"/>
                </a:solidFill>
                <a:latin typeface="Poppins"/>
                <a:ea typeface="Poppins"/>
                <a:cs typeface="Poppins"/>
                <a:sym typeface="Poppins"/>
              </a:rPr>
              <a:t>Diğer yönlendirme protokollerinden farklı olarak yol vektörünü (Path Vector) kullanır, sadece mesafeye bakmaz.</a:t>
            </a:r>
          </a:p>
          <a:p>
            <a:pPr algn="just" marL="558436" indent="-279218" lvl="1">
              <a:lnSpc>
                <a:spcPts val="3621"/>
              </a:lnSpc>
              <a:buFont typeface="Arial"/>
              <a:buChar char="•"/>
            </a:pPr>
            <a:r>
              <a:rPr lang="en-US" sz="2586">
                <a:solidFill>
                  <a:srgbClr val="FFFFFF"/>
                </a:solidFill>
                <a:latin typeface="Poppins"/>
                <a:ea typeface="Poppins"/>
                <a:cs typeface="Poppins"/>
                <a:sym typeface="Poppins"/>
              </a:rPr>
              <a:t>Yönlendirme kararlarını politikalar ve kurallar üzerinden verir.</a:t>
            </a:r>
          </a:p>
          <a:p>
            <a:pPr algn="just" marL="558436" indent="-279218" lvl="1">
              <a:lnSpc>
                <a:spcPts val="3621"/>
              </a:lnSpc>
              <a:buFont typeface="Arial"/>
              <a:buChar char="•"/>
            </a:pPr>
            <a:r>
              <a:rPr lang="en-US" sz="2586">
                <a:solidFill>
                  <a:srgbClr val="FFFFFF"/>
                </a:solidFill>
                <a:latin typeface="Poppins"/>
                <a:ea typeface="Poppins"/>
                <a:cs typeface="Poppins"/>
                <a:sym typeface="Poppins"/>
              </a:rPr>
              <a:t>IP adres blokları (prefix) ve yolları paylaşarak internetin global yönlendirme tablosunu oluşturur.</a:t>
            </a:r>
          </a:p>
          <a:p>
            <a:pPr algn="just" marL="558436" indent="-279218" lvl="1">
              <a:lnSpc>
                <a:spcPts val="3621"/>
              </a:lnSpc>
              <a:buFont typeface="Arial"/>
              <a:buChar char="•"/>
            </a:pPr>
            <a:r>
              <a:rPr lang="en-US" sz="2586">
                <a:solidFill>
                  <a:srgbClr val="FFFFFF"/>
                </a:solidFill>
                <a:latin typeface="Poppins"/>
                <a:ea typeface="Poppins"/>
                <a:cs typeface="Poppins"/>
                <a:sym typeface="Poppins"/>
              </a:rPr>
              <a:t>Yol</a:t>
            </a:r>
            <a:r>
              <a:rPr lang="en-US" sz="2586">
                <a:solidFill>
                  <a:srgbClr val="FFFFFF"/>
                </a:solidFill>
                <a:latin typeface="Poppins"/>
                <a:ea typeface="Poppins"/>
                <a:cs typeface="Poppins"/>
                <a:sym typeface="Poppins"/>
              </a:rPr>
              <a:t> nitelikleri (Path Attributes) sayesinde ağ yöneticileri, hangi yolların tercih edileceğini kontrol edebilir ve trafik akışını yönetebilir.</a:t>
            </a:r>
          </a:p>
          <a:p>
            <a:pPr algn="just">
              <a:lnSpc>
                <a:spcPts val="3621"/>
              </a:lnSpc>
            </a:pPr>
          </a:p>
        </p:txBody>
      </p:sp>
      <p:sp>
        <p:nvSpPr>
          <p:cNvPr name="TextBox 6" id="6"/>
          <p:cNvSpPr txBox="true"/>
          <p:nvPr/>
        </p:nvSpPr>
        <p:spPr>
          <a:xfrm rot="0">
            <a:off x="2104576" y="933450"/>
            <a:ext cx="8037680" cy="1157605"/>
          </a:xfrm>
          <a:prstGeom prst="rect">
            <a:avLst/>
          </a:prstGeom>
        </p:spPr>
        <p:txBody>
          <a:bodyPr anchor="t" rtlCol="false" tIns="0" lIns="0" bIns="0" rIns="0">
            <a:spAutoFit/>
          </a:bodyPr>
          <a:lstStyle/>
          <a:p>
            <a:pPr algn="l">
              <a:lnSpc>
                <a:spcPts val="7909"/>
              </a:lnSpc>
            </a:pPr>
            <a:r>
              <a:rPr lang="en-US" sz="6999">
                <a:solidFill>
                  <a:srgbClr val="FFFFFF"/>
                </a:solidFill>
                <a:latin typeface="Impact"/>
                <a:ea typeface="Impact"/>
                <a:cs typeface="Impact"/>
                <a:sym typeface="Impact"/>
              </a:rPr>
              <a:t>BGP ÇALIŞMA PRENSİBİ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3433588" y="5806884"/>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263077" y="895772"/>
            <a:ext cx="7060793" cy="6649983"/>
          </a:xfrm>
          <a:custGeom>
            <a:avLst/>
            <a:gdLst/>
            <a:ahLst/>
            <a:cxnLst/>
            <a:rect r="r" b="b" t="t" l="l"/>
            <a:pathLst>
              <a:path h="6649983" w="7060793">
                <a:moveTo>
                  <a:pt x="0" y="0"/>
                </a:moveTo>
                <a:lnTo>
                  <a:pt x="7060794" y="0"/>
                </a:lnTo>
                <a:lnTo>
                  <a:pt x="7060794" y="6649984"/>
                </a:lnTo>
                <a:lnTo>
                  <a:pt x="0" y="66499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664621" y="-753127"/>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597276" y="2115458"/>
            <a:ext cx="9229261" cy="7316177"/>
          </a:xfrm>
          <a:prstGeom prst="rect">
            <a:avLst/>
          </a:prstGeom>
        </p:spPr>
        <p:txBody>
          <a:bodyPr anchor="t" rtlCol="false" tIns="0" lIns="0" bIns="0" rIns="0">
            <a:spAutoFit/>
          </a:bodyPr>
          <a:lstStyle/>
          <a:p>
            <a:pPr algn="just">
              <a:lnSpc>
                <a:spcPts val="3621"/>
              </a:lnSpc>
            </a:pPr>
            <a:r>
              <a:rPr lang="en-US" sz="2586">
                <a:solidFill>
                  <a:srgbClr val="FFFFFF"/>
                </a:solidFill>
                <a:latin typeface="Poppins"/>
                <a:ea typeface="Poppins"/>
                <a:cs typeface="Poppins"/>
                <a:sym typeface="Poppins"/>
              </a:rPr>
              <a:t>BGP’nin çalışması için iki yönlendirici arasında BGP Peer ilişkisi kurulması gerekir. Bu ilişkiyi kurmak için BGP, TCP 179 portunu kullanır. İki yönlendirici arasındaki bağlantı kurulduktan sonra BGP, yönlendirme bilgilerini paylaşmaya başlar.</a:t>
            </a:r>
          </a:p>
          <a:p>
            <a:pPr algn="just">
              <a:lnSpc>
                <a:spcPts val="3621"/>
              </a:lnSpc>
            </a:pPr>
            <a:r>
              <a:rPr lang="en-US" sz="2586">
                <a:solidFill>
                  <a:srgbClr val="FFFFFF"/>
                </a:solidFill>
                <a:latin typeface="Poppins"/>
                <a:ea typeface="Poppins"/>
                <a:cs typeface="Poppins"/>
                <a:sym typeface="Poppins"/>
              </a:rPr>
              <a:t>BGP komşuluk türleri:</a:t>
            </a:r>
          </a:p>
          <a:p>
            <a:pPr algn="just" marL="558436" indent="-279218" lvl="1">
              <a:lnSpc>
                <a:spcPts val="3621"/>
              </a:lnSpc>
              <a:buAutoNum type="arabicPeriod" startAt="1"/>
            </a:pPr>
            <a:r>
              <a:rPr lang="en-US" sz="2586">
                <a:solidFill>
                  <a:srgbClr val="FFFFFF"/>
                </a:solidFill>
                <a:latin typeface="Poppins"/>
                <a:ea typeface="Poppins"/>
                <a:cs typeface="Poppins"/>
                <a:sym typeface="Poppins"/>
              </a:rPr>
              <a:t>eBGP (External BGP): Farklı otonom sistemler (AS’ler) arasında kurulan bağlantıdır.</a:t>
            </a:r>
          </a:p>
          <a:p>
            <a:pPr algn="just" marL="558436" indent="-279218" lvl="1">
              <a:lnSpc>
                <a:spcPts val="3621"/>
              </a:lnSpc>
              <a:buAutoNum type="arabicPeriod" startAt="1"/>
            </a:pPr>
            <a:r>
              <a:rPr lang="en-US" sz="2586">
                <a:solidFill>
                  <a:srgbClr val="FFFFFF"/>
                </a:solidFill>
                <a:latin typeface="Poppins"/>
                <a:ea typeface="Poppins"/>
                <a:cs typeface="Poppins"/>
                <a:sym typeface="Poppins"/>
              </a:rPr>
              <a:t>iBGP (Internal BGP): Aynı otonom sistem içindeki yönlendiriciler arasında kurulan bağlantıdır.</a:t>
            </a:r>
          </a:p>
          <a:p>
            <a:pPr algn="just">
              <a:lnSpc>
                <a:spcPts val="3621"/>
              </a:lnSpc>
            </a:pPr>
            <a:r>
              <a:rPr lang="en-US" sz="2586">
                <a:solidFill>
                  <a:srgbClr val="FFFFFF"/>
                </a:solidFill>
                <a:latin typeface="Poppins"/>
                <a:ea typeface="Poppins"/>
                <a:cs typeface="Poppins"/>
                <a:sym typeface="Poppins"/>
              </a:rPr>
              <a:t>Komşuluk (Peering) Kurulumu Adımları:</a:t>
            </a:r>
          </a:p>
          <a:p>
            <a:pPr algn="just" marL="558436" indent="-279218" lvl="1">
              <a:lnSpc>
                <a:spcPts val="3621"/>
              </a:lnSpc>
              <a:buFont typeface="Arial"/>
              <a:buChar char="•"/>
            </a:pPr>
            <a:r>
              <a:rPr lang="en-US" sz="2586">
                <a:solidFill>
                  <a:srgbClr val="FFFFFF"/>
                </a:solidFill>
                <a:latin typeface="Poppins"/>
                <a:ea typeface="Poppins"/>
                <a:cs typeface="Poppins"/>
                <a:sym typeface="Poppins"/>
              </a:rPr>
              <a:t>Yönlendiriciler, TCP bağlantısı başlatır.</a:t>
            </a:r>
          </a:p>
          <a:p>
            <a:pPr algn="just" marL="558436" indent="-279218" lvl="1">
              <a:lnSpc>
                <a:spcPts val="3621"/>
              </a:lnSpc>
              <a:buFont typeface="Arial"/>
              <a:buChar char="•"/>
            </a:pPr>
            <a:r>
              <a:rPr lang="en-US" sz="2586">
                <a:solidFill>
                  <a:srgbClr val="FFFFFF"/>
                </a:solidFill>
                <a:latin typeface="Poppins"/>
                <a:ea typeface="Poppins"/>
                <a:cs typeface="Poppins"/>
                <a:sym typeface="Poppins"/>
              </a:rPr>
              <a:t>OPEN mesajı ile BGP oturumu kurulur.</a:t>
            </a:r>
          </a:p>
          <a:p>
            <a:pPr algn="just" marL="558436" indent="-279218" lvl="1">
              <a:lnSpc>
                <a:spcPts val="3621"/>
              </a:lnSpc>
              <a:buFont typeface="Arial"/>
              <a:buChar char="•"/>
            </a:pPr>
            <a:r>
              <a:rPr lang="en-US" sz="2586">
                <a:solidFill>
                  <a:srgbClr val="FFFFFF"/>
                </a:solidFill>
                <a:latin typeface="Poppins"/>
                <a:ea typeface="Poppins"/>
                <a:cs typeface="Poppins"/>
                <a:sym typeface="Poppins"/>
              </a:rPr>
              <a:t>Oturum kurulduktan sonra yönlendirme bilgileri UPDATE mesajları ile paylaşılır.</a:t>
            </a:r>
          </a:p>
          <a:p>
            <a:pPr algn="just">
              <a:lnSpc>
                <a:spcPts val="3621"/>
              </a:lnSpc>
            </a:pPr>
          </a:p>
        </p:txBody>
      </p:sp>
      <p:sp>
        <p:nvSpPr>
          <p:cNvPr name="TextBox 6" id="6"/>
          <p:cNvSpPr txBox="true"/>
          <p:nvPr/>
        </p:nvSpPr>
        <p:spPr>
          <a:xfrm rot="0">
            <a:off x="1597276" y="557364"/>
            <a:ext cx="9586268" cy="2157730"/>
          </a:xfrm>
          <a:prstGeom prst="rect">
            <a:avLst/>
          </a:prstGeom>
        </p:spPr>
        <p:txBody>
          <a:bodyPr anchor="t" rtlCol="false" tIns="0" lIns="0" bIns="0" rIns="0">
            <a:spAutoFit/>
          </a:bodyPr>
          <a:lstStyle/>
          <a:p>
            <a:pPr algn="l">
              <a:lnSpc>
                <a:spcPts val="7909"/>
              </a:lnSpc>
            </a:pPr>
            <a:r>
              <a:rPr lang="en-US" sz="6999">
                <a:solidFill>
                  <a:srgbClr val="FFFFFF"/>
                </a:solidFill>
                <a:latin typeface="Impact"/>
                <a:ea typeface="Impact"/>
                <a:cs typeface="Impact"/>
                <a:sym typeface="Impact"/>
              </a:rPr>
              <a:t>BGP Peer (Komşuluk) İlişkisi</a:t>
            </a:r>
          </a:p>
          <a:p>
            <a:pPr algn="l">
              <a:lnSpc>
                <a:spcPts val="790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3433588" y="5806884"/>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64621" y="-753127"/>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986741" y="4115019"/>
            <a:ext cx="11301259" cy="5749515"/>
          </a:xfrm>
          <a:custGeom>
            <a:avLst/>
            <a:gdLst/>
            <a:ahLst/>
            <a:cxnLst/>
            <a:rect r="r" b="b" t="t" l="l"/>
            <a:pathLst>
              <a:path h="5749515" w="11301259">
                <a:moveTo>
                  <a:pt x="0" y="0"/>
                </a:moveTo>
                <a:lnTo>
                  <a:pt x="11301259" y="0"/>
                </a:lnTo>
                <a:lnTo>
                  <a:pt x="11301259" y="5749515"/>
                </a:lnTo>
                <a:lnTo>
                  <a:pt x="0" y="5749515"/>
                </a:lnTo>
                <a:lnTo>
                  <a:pt x="0" y="0"/>
                </a:lnTo>
                <a:close/>
              </a:path>
            </a:pathLst>
          </a:custGeom>
          <a:blipFill>
            <a:blip r:embed="rId4"/>
            <a:stretch>
              <a:fillRect l="0" t="0" r="0" b="0"/>
            </a:stretch>
          </a:blipFill>
        </p:spPr>
      </p:sp>
      <p:sp>
        <p:nvSpPr>
          <p:cNvPr name="TextBox 5" id="5"/>
          <p:cNvSpPr txBox="true"/>
          <p:nvPr/>
        </p:nvSpPr>
        <p:spPr>
          <a:xfrm rot="0">
            <a:off x="227775" y="394335"/>
            <a:ext cx="6445808" cy="9441180"/>
          </a:xfrm>
          <a:prstGeom prst="rect">
            <a:avLst/>
          </a:prstGeom>
        </p:spPr>
        <p:txBody>
          <a:bodyPr anchor="t" rtlCol="false" tIns="0" lIns="0" bIns="0" rIns="0">
            <a:spAutoFit/>
          </a:bodyPr>
          <a:lstStyle/>
          <a:p>
            <a:pPr algn="just">
              <a:lnSpc>
                <a:spcPts val="2520"/>
              </a:lnSpc>
            </a:pPr>
            <a:r>
              <a:rPr lang="en-US" sz="1800">
                <a:solidFill>
                  <a:srgbClr val="FFFFFF"/>
                </a:solidFill>
                <a:latin typeface="Poppins"/>
                <a:ea typeface="Poppins"/>
                <a:cs typeface="Poppins"/>
                <a:sym typeface="Poppins"/>
              </a:rPr>
              <a:t>3. BGP Finite State Machine (FSM) – Durum Makineleri</a:t>
            </a:r>
          </a:p>
          <a:p>
            <a:pPr algn="just">
              <a:lnSpc>
                <a:spcPts val="2520"/>
              </a:lnSpc>
            </a:pPr>
            <a:r>
              <a:rPr lang="en-US" sz="1800">
                <a:solidFill>
                  <a:srgbClr val="FFFFFF"/>
                </a:solidFill>
                <a:latin typeface="Poppins"/>
                <a:ea typeface="Poppins"/>
                <a:cs typeface="Poppins"/>
                <a:sym typeface="Poppins"/>
              </a:rPr>
              <a:t>BGP, komşuluk kurulumu sırasında Finite State Machine (FSM) adı verilen bir dizi durumu takip eder. FSM, BGP komşuluk ilişkisini kurmak ve sürdürmek için kullanılır.</a:t>
            </a:r>
          </a:p>
          <a:p>
            <a:pPr algn="just">
              <a:lnSpc>
                <a:spcPts val="2520"/>
              </a:lnSpc>
            </a:pPr>
            <a:r>
              <a:rPr lang="en-US" sz="1800">
                <a:solidFill>
                  <a:srgbClr val="FFFFFF"/>
                </a:solidFill>
                <a:latin typeface="Poppins"/>
                <a:ea typeface="Poppins"/>
                <a:cs typeface="Poppins"/>
                <a:sym typeface="Poppins"/>
              </a:rPr>
              <a:t>BGP FSM Durumları:</a:t>
            </a:r>
          </a:p>
          <a:p>
            <a:pPr algn="just" marL="388620" indent="-194310" lvl="1">
              <a:lnSpc>
                <a:spcPts val="2520"/>
              </a:lnSpc>
              <a:buAutoNum type="arabicPeriod" startAt="1"/>
            </a:pPr>
            <a:r>
              <a:rPr lang="en-US" sz="1800">
                <a:solidFill>
                  <a:srgbClr val="FFFFFF"/>
                </a:solidFill>
                <a:latin typeface="Poppins"/>
                <a:ea typeface="Poppins"/>
                <a:cs typeface="Poppins"/>
                <a:sym typeface="Poppins"/>
              </a:rPr>
              <a:t>Idle:</a:t>
            </a:r>
          </a:p>
          <a:p>
            <a:pPr algn="just" marL="777240" indent="-259080" lvl="2">
              <a:lnSpc>
                <a:spcPts val="2520"/>
              </a:lnSpc>
              <a:buFont typeface="Arial"/>
              <a:buChar char="⚬"/>
            </a:pPr>
            <a:r>
              <a:rPr lang="en-US" sz="1800">
                <a:solidFill>
                  <a:srgbClr val="FFFFFF"/>
                </a:solidFill>
                <a:latin typeface="Poppins"/>
                <a:ea typeface="Poppins"/>
                <a:cs typeface="Poppins"/>
                <a:sym typeface="Poppins"/>
              </a:rPr>
              <a:t>BGP oturumu kapalıdır.</a:t>
            </a:r>
          </a:p>
          <a:p>
            <a:pPr algn="just" marL="777240" indent="-259080" lvl="2">
              <a:lnSpc>
                <a:spcPts val="2520"/>
              </a:lnSpc>
              <a:buFont typeface="Arial"/>
              <a:buChar char="⚬"/>
            </a:pPr>
            <a:r>
              <a:rPr lang="en-US" sz="1800">
                <a:solidFill>
                  <a:srgbClr val="FFFFFF"/>
                </a:solidFill>
                <a:latin typeface="Poppins"/>
                <a:ea typeface="Poppins"/>
                <a:cs typeface="Poppins"/>
                <a:sym typeface="Poppins"/>
              </a:rPr>
              <a:t>Komşu ile bağlantı kurmaya hazırdır.</a:t>
            </a:r>
          </a:p>
          <a:p>
            <a:pPr algn="just" marL="388620" indent="-194310" lvl="1">
              <a:lnSpc>
                <a:spcPts val="2520"/>
              </a:lnSpc>
              <a:buAutoNum type="arabicPeriod" startAt="1"/>
            </a:pPr>
            <a:r>
              <a:rPr lang="en-US" sz="1800">
                <a:solidFill>
                  <a:srgbClr val="FFFFFF"/>
                </a:solidFill>
                <a:latin typeface="Poppins"/>
                <a:ea typeface="Poppins"/>
                <a:cs typeface="Poppins"/>
                <a:sym typeface="Poppins"/>
              </a:rPr>
              <a:t>Connect:</a:t>
            </a:r>
          </a:p>
          <a:p>
            <a:pPr algn="just" marL="777240" indent="-259080" lvl="2">
              <a:lnSpc>
                <a:spcPts val="2520"/>
              </a:lnSpc>
              <a:buFont typeface="Arial"/>
              <a:buChar char="⚬"/>
            </a:pPr>
            <a:r>
              <a:rPr lang="en-US" sz="1800">
                <a:solidFill>
                  <a:srgbClr val="FFFFFF"/>
                </a:solidFill>
                <a:latin typeface="Poppins"/>
                <a:ea typeface="Poppins"/>
                <a:cs typeface="Poppins"/>
                <a:sym typeface="Poppins"/>
              </a:rPr>
              <a:t>TCP bağlantısı başlatılır.</a:t>
            </a:r>
          </a:p>
          <a:p>
            <a:pPr algn="just" marL="777240" indent="-259080" lvl="2">
              <a:lnSpc>
                <a:spcPts val="2520"/>
              </a:lnSpc>
              <a:buFont typeface="Arial"/>
              <a:buChar char="⚬"/>
            </a:pPr>
            <a:r>
              <a:rPr lang="en-US" sz="1800">
                <a:solidFill>
                  <a:srgbClr val="FFFFFF"/>
                </a:solidFill>
                <a:latin typeface="Poppins"/>
                <a:ea typeface="Poppins"/>
                <a:cs typeface="Poppins"/>
                <a:sym typeface="Poppins"/>
              </a:rPr>
              <a:t>Bağlantı başarılı olursa, OpenSent durumuna geçer.</a:t>
            </a:r>
          </a:p>
          <a:p>
            <a:pPr algn="just" marL="388620" indent="-194310" lvl="1">
              <a:lnSpc>
                <a:spcPts val="2520"/>
              </a:lnSpc>
              <a:buAutoNum type="arabicPeriod" startAt="1"/>
            </a:pPr>
            <a:r>
              <a:rPr lang="en-US" sz="1800">
                <a:solidFill>
                  <a:srgbClr val="FFFFFF"/>
                </a:solidFill>
                <a:latin typeface="Poppins"/>
                <a:ea typeface="Poppins"/>
                <a:cs typeface="Poppins"/>
                <a:sym typeface="Poppins"/>
              </a:rPr>
              <a:t>Active:</a:t>
            </a:r>
          </a:p>
          <a:p>
            <a:pPr algn="just" marL="777240" indent="-259080" lvl="2">
              <a:lnSpc>
                <a:spcPts val="2520"/>
              </a:lnSpc>
              <a:buFont typeface="Arial"/>
              <a:buChar char="⚬"/>
            </a:pPr>
            <a:r>
              <a:rPr lang="en-US" sz="1800">
                <a:solidFill>
                  <a:srgbClr val="FFFFFF"/>
                </a:solidFill>
                <a:latin typeface="Poppins"/>
                <a:ea typeface="Poppins"/>
                <a:cs typeface="Poppins"/>
                <a:sym typeface="Poppins"/>
              </a:rPr>
              <a:t>TCP bağlantısı başarısız olursa tekrar denenir.</a:t>
            </a:r>
          </a:p>
          <a:p>
            <a:pPr algn="just" marL="777240" indent="-259080" lvl="2">
              <a:lnSpc>
                <a:spcPts val="2520"/>
              </a:lnSpc>
              <a:buFont typeface="Arial"/>
              <a:buChar char="⚬"/>
            </a:pPr>
            <a:r>
              <a:rPr lang="en-US" sz="1800">
                <a:solidFill>
                  <a:srgbClr val="FFFFFF"/>
                </a:solidFill>
                <a:latin typeface="Poppins"/>
                <a:ea typeface="Poppins"/>
                <a:cs typeface="Poppins"/>
                <a:sym typeface="Poppins"/>
              </a:rPr>
              <a:t>Bağlantı başarılı olmazsa Idle durumuna geri döner.</a:t>
            </a:r>
          </a:p>
          <a:p>
            <a:pPr algn="just" marL="388620" indent="-194310" lvl="1">
              <a:lnSpc>
                <a:spcPts val="2520"/>
              </a:lnSpc>
              <a:buAutoNum type="arabicPeriod" startAt="1"/>
            </a:pPr>
            <a:r>
              <a:rPr lang="en-US" sz="1800">
                <a:solidFill>
                  <a:srgbClr val="FFFFFF"/>
                </a:solidFill>
                <a:latin typeface="Poppins"/>
                <a:ea typeface="Poppins"/>
                <a:cs typeface="Poppins"/>
                <a:sym typeface="Poppins"/>
              </a:rPr>
              <a:t>OpenSent:</a:t>
            </a:r>
          </a:p>
          <a:p>
            <a:pPr algn="just" marL="777240" indent="-259080" lvl="2">
              <a:lnSpc>
                <a:spcPts val="2520"/>
              </a:lnSpc>
              <a:buFont typeface="Arial"/>
              <a:buChar char="⚬"/>
            </a:pPr>
            <a:r>
              <a:rPr lang="en-US" sz="1800">
                <a:solidFill>
                  <a:srgbClr val="FFFFFF"/>
                </a:solidFill>
                <a:latin typeface="Poppins"/>
                <a:ea typeface="Poppins"/>
                <a:cs typeface="Poppins"/>
                <a:sym typeface="Poppins"/>
              </a:rPr>
              <a:t>OPEN mesajı gönderilir ve komşudan cevap beklenir.</a:t>
            </a:r>
          </a:p>
          <a:p>
            <a:pPr algn="just" marL="388620" indent="-194310" lvl="1">
              <a:lnSpc>
                <a:spcPts val="2520"/>
              </a:lnSpc>
              <a:buAutoNum type="arabicPeriod" startAt="1"/>
            </a:pPr>
            <a:r>
              <a:rPr lang="en-US" sz="1800">
                <a:solidFill>
                  <a:srgbClr val="FFFFFF"/>
                </a:solidFill>
                <a:latin typeface="Poppins"/>
                <a:ea typeface="Poppins"/>
                <a:cs typeface="Poppins"/>
                <a:sym typeface="Poppins"/>
              </a:rPr>
              <a:t>OpenConfirm:</a:t>
            </a:r>
          </a:p>
          <a:p>
            <a:pPr algn="just" marL="777240" indent="-259080" lvl="2">
              <a:lnSpc>
                <a:spcPts val="2520"/>
              </a:lnSpc>
              <a:buFont typeface="Arial"/>
              <a:buChar char="⚬"/>
            </a:pPr>
            <a:r>
              <a:rPr lang="en-US" sz="1800">
                <a:solidFill>
                  <a:srgbClr val="FFFFFF"/>
                </a:solidFill>
                <a:latin typeface="Poppins"/>
                <a:ea typeface="Poppins"/>
                <a:cs typeface="Poppins"/>
                <a:sym typeface="Poppins"/>
              </a:rPr>
              <a:t>OPEN mesajı doğrulandıktan sonra KEEPALIVE mesajları değiş tokuş edilir.</a:t>
            </a:r>
          </a:p>
          <a:p>
            <a:pPr algn="just" marL="388620" indent="-194310" lvl="1">
              <a:lnSpc>
                <a:spcPts val="2520"/>
              </a:lnSpc>
              <a:buAutoNum type="arabicPeriod" startAt="1"/>
            </a:pPr>
            <a:r>
              <a:rPr lang="en-US" sz="1800">
                <a:solidFill>
                  <a:srgbClr val="FFFFFF"/>
                </a:solidFill>
                <a:latin typeface="Poppins"/>
                <a:ea typeface="Poppins"/>
                <a:cs typeface="Poppins"/>
                <a:sym typeface="Poppins"/>
              </a:rPr>
              <a:t>Established:</a:t>
            </a:r>
          </a:p>
          <a:p>
            <a:pPr algn="just" marL="777240" indent="-259080" lvl="2">
              <a:lnSpc>
                <a:spcPts val="2520"/>
              </a:lnSpc>
              <a:buFont typeface="Arial"/>
              <a:buChar char="⚬"/>
            </a:pPr>
            <a:r>
              <a:rPr lang="en-US" sz="1800">
                <a:solidFill>
                  <a:srgbClr val="FFFFFF"/>
                </a:solidFill>
                <a:latin typeface="Poppins"/>
                <a:ea typeface="Poppins"/>
                <a:cs typeface="Poppins"/>
                <a:sym typeface="Poppins"/>
              </a:rPr>
              <a:t>BGP oturumu başarıyla kurulur.</a:t>
            </a:r>
          </a:p>
          <a:p>
            <a:pPr algn="just" marL="777240" indent="-259080" lvl="2">
              <a:lnSpc>
                <a:spcPts val="2520"/>
              </a:lnSpc>
              <a:buFont typeface="Arial"/>
              <a:buChar char="⚬"/>
            </a:pPr>
            <a:r>
              <a:rPr lang="en-US" sz="1800">
                <a:solidFill>
                  <a:srgbClr val="FFFFFF"/>
                </a:solidFill>
                <a:latin typeface="Poppins"/>
                <a:ea typeface="Poppins"/>
                <a:cs typeface="Poppins"/>
                <a:sym typeface="Poppins"/>
              </a:rPr>
              <a:t>Artık UPDATE mesajları ile yönlendirme bilgileri paylaşılır.</a:t>
            </a:r>
          </a:p>
          <a:p>
            <a:pPr algn="just">
              <a:lnSpc>
                <a:spcPts val="2520"/>
              </a:lnSpc>
            </a:pPr>
            <a:r>
              <a:rPr lang="en-US" sz="1800">
                <a:solidFill>
                  <a:srgbClr val="FFFFFF"/>
                </a:solidFill>
                <a:latin typeface="Poppins"/>
                <a:ea typeface="Poppins"/>
                <a:cs typeface="Poppins"/>
                <a:sym typeface="Poppins"/>
              </a:rPr>
              <a:t>Durum Geçişi Örneği:</a:t>
            </a:r>
          </a:p>
          <a:p>
            <a:pPr algn="just">
              <a:lnSpc>
                <a:spcPts val="2520"/>
              </a:lnSpc>
            </a:pPr>
            <a:r>
              <a:rPr lang="en-US" sz="1800">
                <a:solidFill>
                  <a:srgbClr val="FFFFFF"/>
                </a:solidFill>
                <a:latin typeface="Poppins"/>
                <a:ea typeface="Poppins"/>
                <a:cs typeface="Poppins"/>
                <a:sym typeface="Poppins"/>
              </a:rPr>
              <a:t>codeIdle --&gt; Connect --&gt; Active --&gt; OpenSent --&gt; OpenConfirm --&gt; Established</a:t>
            </a:r>
          </a:p>
          <a:p>
            <a:pPr algn="just">
              <a:lnSpc>
                <a:spcPts val="2520"/>
              </a:lnSpc>
            </a:pPr>
          </a:p>
        </p:txBody>
      </p:sp>
      <p:sp>
        <p:nvSpPr>
          <p:cNvPr name="TextBox 6" id="6"/>
          <p:cNvSpPr txBox="true"/>
          <p:nvPr/>
        </p:nvSpPr>
        <p:spPr>
          <a:xfrm rot="0">
            <a:off x="9825395" y="985520"/>
            <a:ext cx="8037680" cy="4157980"/>
          </a:xfrm>
          <a:prstGeom prst="rect">
            <a:avLst/>
          </a:prstGeom>
        </p:spPr>
        <p:txBody>
          <a:bodyPr anchor="t" rtlCol="false" tIns="0" lIns="0" bIns="0" rIns="0">
            <a:spAutoFit/>
          </a:bodyPr>
          <a:lstStyle/>
          <a:p>
            <a:pPr algn="l">
              <a:lnSpc>
                <a:spcPts val="7909"/>
              </a:lnSpc>
            </a:pPr>
            <a:r>
              <a:rPr lang="en-US" sz="6999">
                <a:solidFill>
                  <a:srgbClr val="FFFFFF"/>
                </a:solidFill>
                <a:latin typeface="Impact"/>
                <a:ea typeface="Impact"/>
                <a:cs typeface="Impact"/>
                <a:sym typeface="Impact"/>
              </a:rPr>
              <a:t>BGP Finite State Machine (FSM) – Durum Makineleri</a:t>
            </a:r>
          </a:p>
          <a:p>
            <a:pPr algn="l">
              <a:lnSpc>
                <a:spcPts val="790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3433588" y="5806884"/>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64621" y="-753127"/>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27775" y="384810"/>
            <a:ext cx="8153353" cy="8755871"/>
          </a:xfrm>
          <a:prstGeom prst="rect">
            <a:avLst/>
          </a:prstGeom>
        </p:spPr>
        <p:txBody>
          <a:bodyPr anchor="t" rtlCol="false" tIns="0" lIns="0" bIns="0" rIns="0">
            <a:spAutoFit/>
          </a:bodyPr>
          <a:lstStyle/>
          <a:p>
            <a:pPr algn="just">
              <a:lnSpc>
                <a:spcPts val="3187"/>
              </a:lnSpc>
            </a:pPr>
            <a:r>
              <a:rPr lang="en-US" sz="2276">
                <a:solidFill>
                  <a:srgbClr val="FFFFFF"/>
                </a:solidFill>
                <a:latin typeface="Poppins"/>
                <a:ea typeface="Poppins"/>
                <a:cs typeface="Poppins"/>
                <a:sym typeface="Poppins"/>
              </a:rPr>
              <a:t>BGP Mesaj Türleri</a:t>
            </a:r>
          </a:p>
          <a:p>
            <a:pPr algn="just">
              <a:lnSpc>
                <a:spcPts val="3187"/>
              </a:lnSpc>
            </a:pPr>
            <a:r>
              <a:rPr lang="en-US" sz="2276">
                <a:solidFill>
                  <a:srgbClr val="FFFFFF"/>
                </a:solidFill>
                <a:latin typeface="Poppins"/>
                <a:ea typeface="Poppins"/>
                <a:cs typeface="Poppins"/>
                <a:sym typeface="Poppins"/>
              </a:rPr>
              <a:t>BGP, komşuları ile iletişim kurmak ve yönlendirme tablolarını paylaşmak için dört ana mesaj türü kullanır:</a:t>
            </a:r>
          </a:p>
          <a:p>
            <a:pPr algn="just" marL="491568" indent="-245784" lvl="1">
              <a:lnSpc>
                <a:spcPts val="3187"/>
              </a:lnSpc>
              <a:buAutoNum type="arabicPeriod" startAt="1"/>
            </a:pPr>
            <a:r>
              <a:rPr lang="en-US" sz="2276">
                <a:solidFill>
                  <a:srgbClr val="FFFFFF"/>
                </a:solidFill>
                <a:latin typeface="Poppins"/>
                <a:ea typeface="Poppins"/>
                <a:cs typeface="Poppins"/>
                <a:sym typeface="Poppins"/>
              </a:rPr>
              <a:t>OPEN Mesajı:</a:t>
            </a:r>
          </a:p>
          <a:p>
            <a:pPr algn="just" marL="983137" indent="-327712" lvl="2">
              <a:lnSpc>
                <a:spcPts val="3187"/>
              </a:lnSpc>
              <a:buFont typeface="Arial"/>
              <a:buChar char="⚬"/>
            </a:pPr>
            <a:r>
              <a:rPr lang="en-US" sz="2276">
                <a:solidFill>
                  <a:srgbClr val="FFFFFF"/>
                </a:solidFill>
                <a:latin typeface="Poppins"/>
                <a:ea typeface="Poppins"/>
                <a:cs typeface="Poppins"/>
                <a:sym typeface="Poppins"/>
              </a:rPr>
              <a:t>BGP komşuluğunu başlatmak için gönderilir.</a:t>
            </a:r>
          </a:p>
          <a:p>
            <a:pPr algn="just" marL="983137" indent="-327712" lvl="2">
              <a:lnSpc>
                <a:spcPts val="3187"/>
              </a:lnSpc>
              <a:buFont typeface="Arial"/>
              <a:buChar char="⚬"/>
            </a:pPr>
            <a:r>
              <a:rPr lang="en-US" sz="2276">
                <a:solidFill>
                  <a:srgbClr val="FFFFFF"/>
                </a:solidFill>
                <a:latin typeface="Poppins"/>
                <a:ea typeface="Poppins"/>
                <a:cs typeface="Poppins"/>
                <a:sym typeface="Poppins"/>
              </a:rPr>
              <a:t>ASN (Ot</a:t>
            </a:r>
            <a:r>
              <a:rPr lang="en-US" sz="2276">
                <a:solidFill>
                  <a:srgbClr val="FFFFFF"/>
                </a:solidFill>
                <a:latin typeface="Poppins"/>
                <a:ea typeface="Poppins"/>
                <a:cs typeface="Poppins"/>
                <a:sym typeface="Poppins"/>
              </a:rPr>
              <a:t>onom Sistem Numarası), BGP sürümü ve oturum parametreleri içerir.</a:t>
            </a:r>
          </a:p>
          <a:p>
            <a:pPr algn="just" marL="491568" indent="-245784" lvl="1">
              <a:lnSpc>
                <a:spcPts val="3187"/>
              </a:lnSpc>
              <a:buAutoNum type="arabicPeriod" startAt="1"/>
            </a:pPr>
            <a:r>
              <a:rPr lang="en-US" sz="2276">
                <a:solidFill>
                  <a:srgbClr val="FFFFFF"/>
                </a:solidFill>
                <a:latin typeface="Poppins"/>
                <a:ea typeface="Poppins"/>
                <a:cs typeface="Poppins"/>
                <a:sym typeface="Poppins"/>
              </a:rPr>
              <a:t>KEEP</a:t>
            </a:r>
            <a:r>
              <a:rPr lang="en-US" sz="2276">
                <a:solidFill>
                  <a:srgbClr val="FFFFFF"/>
                </a:solidFill>
                <a:latin typeface="Poppins"/>
                <a:ea typeface="Poppins"/>
                <a:cs typeface="Poppins"/>
                <a:sym typeface="Poppins"/>
              </a:rPr>
              <a:t>ALIVE Mesajı:</a:t>
            </a:r>
          </a:p>
          <a:p>
            <a:pPr algn="just" marL="983137" indent="-327712" lvl="2">
              <a:lnSpc>
                <a:spcPts val="3187"/>
              </a:lnSpc>
              <a:buFont typeface="Arial"/>
              <a:buChar char="⚬"/>
            </a:pPr>
            <a:r>
              <a:rPr lang="en-US" sz="2276">
                <a:solidFill>
                  <a:srgbClr val="FFFFFF"/>
                </a:solidFill>
                <a:latin typeface="Poppins"/>
                <a:ea typeface="Poppins"/>
                <a:cs typeface="Poppins"/>
                <a:sym typeface="Poppins"/>
              </a:rPr>
              <a:t>BG</a:t>
            </a:r>
            <a:r>
              <a:rPr lang="en-US" sz="2276">
                <a:solidFill>
                  <a:srgbClr val="FFFFFF"/>
                </a:solidFill>
                <a:latin typeface="Poppins"/>
                <a:ea typeface="Poppins"/>
                <a:cs typeface="Poppins"/>
                <a:sym typeface="Poppins"/>
              </a:rPr>
              <a:t>P komşularının bağlantısının canlı olduğunu kontrol eder.</a:t>
            </a:r>
          </a:p>
          <a:p>
            <a:pPr algn="just" marL="983137" indent="-327712" lvl="2">
              <a:lnSpc>
                <a:spcPts val="3187"/>
              </a:lnSpc>
              <a:buFont typeface="Arial"/>
              <a:buChar char="⚬"/>
            </a:pPr>
            <a:r>
              <a:rPr lang="en-US" sz="2276">
                <a:solidFill>
                  <a:srgbClr val="FFFFFF"/>
                </a:solidFill>
                <a:latin typeface="Poppins"/>
                <a:ea typeface="Poppins"/>
                <a:cs typeface="Poppins"/>
                <a:sym typeface="Poppins"/>
              </a:rPr>
              <a:t>He</a:t>
            </a:r>
            <a:r>
              <a:rPr lang="en-US" sz="2276">
                <a:solidFill>
                  <a:srgbClr val="FFFFFF"/>
                </a:solidFill>
                <a:latin typeface="Poppins"/>
                <a:ea typeface="Poppins"/>
                <a:cs typeface="Poppins"/>
                <a:sym typeface="Poppins"/>
              </a:rPr>
              <a:t>r 60 saniyede bir gönderilir.</a:t>
            </a:r>
          </a:p>
          <a:p>
            <a:pPr algn="just" marL="491568" indent="-245784" lvl="1">
              <a:lnSpc>
                <a:spcPts val="3187"/>
              </a:lnSpc>
              <a:buAutoNum type="arabicPeriod" startAt="1"/>
            </a:pPr>
            <a:r>
              <a:rPr lang="en-US" sz="2276">
                <a:solidFill>
                  <a:srgbClr val="FFFFFF"/>
                </a:solidFill>
                <a:latin typeface="Poppins"/>
                <a:ea typeface="Poppins"/>
                <a:cs typeface="Poppins"/>
                <a:sym typeface="Poppins"/>
              </a:rPr>
              <a:t>U</a:t>
            </a:r>
            <a:r>
              <a:rPr lang="en-US" sz="2276">
                <a:solidFill>
                  <a:srgbClr val="FFFFFF"/>
                </a:solidFill>
                <a:latin typeface="Poppins"/>
                <a:ea typeface="Poppins"/>
                <a:cs typeface="Poppins"/>
                <a:sym typeface="Poppins"/>
              </a:rPr>
              <a:t>PDATE Mesajı:</a:t>
            </a:r>
          </a:p>
          <a:p>
            <a:pPr algn="just" marL="983137" indent="-327712" lvl="2">
              <a:lnSpc>
                <a:spcPts val="3187"/>
              </a:lnSpc>
              <a:buFont typeface="Arial"/>
              <a:buChar char="⚬"/>
            </a:pPr>
            <a:r>
              <a:rPr lang="en-US" sz="2276">
                <a:solidFill>
                  <a:srgbClr val="FFFFFF"/>
                </a:solidFill>
                <a:latin typeface="Poppins"/>
                <a:ea typeface="Poppins"/>
                <a:cs typeface="Poppins"/>
                <a:sym typeface="Poppins"/>
              </a:rPr>
              <a:t>Yeni yönlendirme bilgilerini taşır.</a:t>
            </a:r>
          </a:p>
          <a:p>
            <a:pPr algn="just" marL="983137" indent="-327712" lvl="2">
              <a:lnSpc>
                <a:spcPts val="3187"/>
              </a:lnSpc>
              <a:buFont typeface="Arial"/>
              <a:buChar char="⚬"/>
            </a:pPr>
            <a:r>
              <a:rPr lang="en-US" sz="2276">
                <a:solidFill>
                  <a:srgbClr val="FFFFFF"/>
                </a:solidFill>
                <a:latin typeface="Poppins"/>
                <a:ea typeface="Poppins"/>
                <a:cs typeface="Poppins"/>
                <a:sym typeface="Poppins"/>
              </a:rPr>
              <a:t>Bir yönlendirme bilgisini ekler veya geri çeker.</a:t>
            </a:r>
          </a:p>
          <a:p>
            <a:pPr algn="just" marL="491568" indent="-245784" lvl="1">
              <a:lnSpc>
                <a:spcPts val="3187"/>
              </a:lnSpc>
              <a:buAutoNum type="arabicPeriod" startAt="1"/>
            </a:pPr>
            <a:r>
              <a:rPr lang="en-US" sz="2276">
                <a:solidFill>
                  <a:srgbClr val="FFFFFF"/>
                </a:solidFill>
                <a:latin typeface="Poppins"/>
                <a:ea typeface="Poppins"/>
                <a:cs typeface="Poppins"/>
                <a:sym typeface="Poppins"/>
              </a:rPr>
              <a:t>N</a:t>
            </a:r>
            <a:r>
              <a:rPr lang="en-US" sz="2276">
                <a:solidFill>
                  <a:srgbClr val="FFFFFF"/>
                </a:solidFill>
                <a:latin typeface="Poppins"/>
                <a:ea typeface="Poppins"/>
                <a:cs typeface="Poppins"/>
                <a:sym typeface="Poppins"/>
              </a:rPr>
              <a:t>OTIFICATION Mesajı:</a:t>
            </a:r>
          </a:p>
          <a:p>
            <a:pPr algn="just" marL="983137" indent="-327712" lvl="2">
              <a:lnSpc>
                <a:spcPts val="3187"/>
              </a:lnSpc>
              <a:buFont typeface="Arial"/>
              <a:buChar char="⚬"/>
            </a:pPr>
            <a:r>
              <a:rPr lang="en-US" sz="2276">
                <a:solidFill>
                  <a:srgbClr val="FFFFFF"/>
                </a:solidFill>
                <a:latin typeface="Poppins"/>
                <a:ea typeface="Poppins"/>
                <a:cs typeface="Poppins"/>
                <a:sym typeface="Poppins"/>
              </a:rPr>
              <a:t>Bir hata tespit edildiğinde gönderilir.</a:t>
            </a:r>
          </a:p>
          <a:p>
            <a:pPr algn="just" marL="983137" indent="-327712" lvl="2">
              <a:lnSpc>
                <a:spcPts val="3187"/>
              </a:lnSpc>
              <a:buFont typeface="Arial"/>
              <a:buChar char="⚬"/>
            </a:pPr>
            <a:r>
              <a:rPr lang="en-US" sz="2276">
                <a:solidFill>
                  <a:srgbClr val="FFFFFF"/>
                </a:solidFill>
                <a:latin typeface="Poppins"/>
                <a:ea typeface="Poppins"/>
                <a:cs typeface="Poppins"/>
                <a:sym typeface="Poppins"/>
              </a:rPr>
              <a:t>BGP oturumunu kapatır.</a:t>
            </a:r>
          </a:p>
          <a:p>
            <a:pPr algn="just">
              <a:lnSpc>
                <a:spcPts val="3187"/>
              </a:lnSpc>
            </a:pPr>
            <a:r>
              <a:rPr lang="en-US" sz="2276">
                <a:solidFill>
                  <a:srgbClr val="FFFFFF"/>
                </a:solidFill>
                <a:latin typeface="Poppins"/>
                <a:ea typeface="Poppins"/>
                <a:cs typeface="Poppins"/>
                <a:sym typeface="Poppins"/>
              </a:rPr>
              <a:t>Ö</a:t>
            </a:r>
            <a:r>
              <a:rPr lang="en-US" sz="2276">
                <a:solidFill>
                  <a:srgbClr val="FFFFFF"/>
                </a:solidFill>
                <a:latin typeface="Poppins"/>
                <a:ea typeface="Poppins"/>
                <a:cs typeface="Poppins"/>
                <a:sym typeface="Poppins"/>
              </a:rPr>
              <a:t>rnek BGP Komşuluk Kurulumu:</a:t>
            </a:r>
          </a:p>
          <a:p>
            <a:pPr algn="just">
              <a:lnSpc>
                <a:spcPts val="3187"/>
              </a:lnSpc>
            </a:pPr>
            <a:r>
              <a:rPr lang="en-US" sz="2276">
                <a:solidFill>
                  <a:srgbClr val="FFFFFF"/>
                </a:solidFill>
                <a:latin typeface="Poppins"/>
                <a:ea typeface="Poppins"/>
                <a:cs typeface="Poppins"/>
                <a:sym typeface="Poppins"/>
              </a:rPr>
              <a:t>Router A ------&gt; OPEN ------&gt; Router B  </a:t>
            </a:r>
          </a:p>
          <a:p>
            <a:pPr algn="just">
              <a:lnSpc>
                <a:spcPts val="3187"/>
              </a:lnSpc>
            </a:pPr>
            <a:r>
              <a:rPr lang="en-US" sz="2276">
                <a:solidFill>
                  <a:srgbClr val="FFFFFF"/>
                </a:solidFill>
                <a:latin typeface="Poppins"/>
                <a:ea typeface="Poppins"/>
                <a:cs typeface="Poppins"/>
                <a:sym typeface="Poppins"/>
              </a:rPr>
              <a:t>Router B &lt;------ KEEPALIVE &lt;------ Router A  </a:t>
            </a:r>
          </a:p>
          <a:p>
            <a:pPr algn="just">
              <a:lnSpc>
                <a:spcPts val="3187"/>
              </a:lnSpc>
            </a:pPr>
            <a:r>
              <a:rPr lang="en-US" sz="2276">
                <a:solidFill>
                  <a:srgbClr val="FFFFFF"/>
                </a:solidFill>
                <a:latin typeface="Poppins"/>
                <a:ea typeface="Poppins"/>
                <a:cs typeface="Poppins"/>
                <a:sym typeface="Poppins"/>
              </a:rPr>
              <a:t>Router A ------&gt; UPDATE ------&gt; Router B  </a:t>
            </a:r>
          </a:p>
          <a:p>
            <a:pPr algn="just">
              <a:lnSpc>
                <a:spcPts val="3187"/>
              </a:lnSpc>
            </a:pPr>
          </a:p>
        </p:txBody>
      </p:sp>
      <p:sp>
        <p:nvSpPr>
          <p:cNvPr name="TextBox 5" id="5"/>
          <p:cNvSpPr txBox="true"/>
          <p:nvPr/>
        </p:nvSpPr>
        <p:spPr>
          <a:xfrm rot="0">
            <a:off x="9825395" y="985520"/>
            <a:ext cx="8037680" cy="2157730"/>
          </a:xfrm>
          <a:prstGeom prst="rect">
            <a:avLst/>
          </a:prstGeom>
        </p:spPr>
        <p:txBody>
          <a:bodyPr anchor="t" rtlCol="false" tIns="0" lIns="0" bIns="0" rIns="0">
            <a:spAutoFit/>
          </a:bodyPr>
          <a:lstStyle/>
          <a:p>
            <a:pPr algn="l">
              <a:lnSpc>
                <a:spcPts val="7909"/>
              </a:lnSpc>
            </a:pPr>
            <a:r>
              <a:rPr lang="en-US" sz="6999">
                <a:solidFill>
                  <a:srgbClr val="FFFFFF"/>
                </a:solidFill>
                <a:latin typeface="Impact"/>
                <a:ea typeface="Impact"/>
                <a:cs typeface="Impact"/>
                <a:sym typeface="Impact"/>
              </a:rPr>
              <a:t>BGP Mesaj Türleri</a:t>
            </a:r>
          </a:p>
          <a:p>
            <a:pPr algn="l">
              <a:lnSpc>
                <a:spcPts val="790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3433588" y="5806884"/>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64621" y="-753127"/>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94143" y="1348683"/>
            <a:ext cx="9078766" cy="5324435"/>
          </a:xfrm>
          <a:prstGeom prst="rect">
            <a:avLst/>
          </a:prstGeom>
        </p:spPr>
        <p:txBody>
          <a:bodyPr anchor="t" rtlCol="false" tIns="0" lIns="0" bIns="0" rIns="0">
            <a:spAutoFit/>
          </a:bodyPr>
          <a:lstStyle/>
          <a:p>
            <a:pPr algn="just">
              <a:lnSpc>
                <a:spcPts val="3549"/>
              </a:lnSpc>
            </a:pPr>
            <a:r>
              <a:rPr lang="en-US" sz="2535">
                <a:solidFill>
                  <a:srgbClr val="FFFFFF"/>
                </a:solidFill>
                <a:latin typeface="Poppins"/>
                <a:ea typeface="Poppins"/>
                <a:cs typeface="Poppins"/>
                <a:sym typeface="Poppins"/>
              </a:rPr>
              <a:t>BGP Yol Nitelikleri (Path Attributes)</a:t>
            </a:r>
          </a:p>
          <a:p>
            <a:pPr algn="just" marL="547362" indent="-273681" lvl="1">
              <a:lnSpc>
                <a:spcPts val="3549"/>
              </a:lnSpc>
              <a:buFont typeface="Arial"/>
              <a:buChar char="•"/>
            </a:pPr>
            <a:r>
              <a:rPr lang="en-US" sz="2535">
                <a:solidFill>
                  <a:srgbClr val="FFFFFF"/>
                </a:solidFill>
                <a:latin typeface="Poppins"/>
                <a:ea typeface="Poppins"/>
                <a:cs typeface="Poppins"/>
                <a:sym typeface="Poppins"/>
              </a:rPr>
              <a:t>AS_PATH: Rotadaki ağların (AS) listesi → en kısa yol tercih edilir.</a:t>
            </a:r>
          </a:p>
          <a:p>
            <a:pPr algn="just" marL="547362" indent="-273681" lvl="1">
              <a:lnSpc>
                <a:spcPts val="3549"/>
              </a:lnSpc>
              <a:buFont typeface="Arial"/>
              <a:buChar char="•"/>
            </a:pPr>
            <a:r>
              <a:rPr lang="en-US" sz="2535">
                <a:solidFill>
                  <a:srgbClr val="FFFFFF"/>
                </a:solidFill>
                <a:latin typeface="Poppins"/>
                <a:ea typeface="Poppins"/>
                <a:cs typeface="Poppins"/>
                <a:sym typeface="Poppins"/>
              </a:rPr>
              <a:t>NEXT_HOP: Paketleri</a:t>
            </a:r>
            <a:r>
              <a:rPr lang="en-US" sz="2535">
                <a:solidFill>
                  <a:srgbClr val="FFFFFF"/>
                </a:solidFill>
                <a:latin typeface="Poppins"/>
                <a:ea typeface="Poppins"/>
                <a:cs typeface="Poppins"/>
                <a:sym typeface="Poppins"/>
              </a:rPr>
              <a:t>n gideceği bir sonraki yönlendirici.</a:t>
            </a:r>
          </a:p>
          <a:p>
            <a:pPr algn="just" marL="547362" indent="-273681" lvl="1">
              <a:lnSpc>
                <a:spcPts val="3549"/>
              </a:lnSpc>
              <a:buFont typeface="Arial"/>
              <a:buChar char="•"/>
            </a:pPr>
            <a:r>
              <a:rPr lang="en-US" sz="2535">
                <a:solidFill>
                  <a:srgbClr val="FFFFFF"/>
                </a:solidFill>
                <a:latin typeface="Poppins"/>
                <a:ea typeface="Poppins"/>
                <a:cs typeface="Poppins"/>
                <a:sym typeface="Poppins"/>
              </a:rPr>
              <a:t>LOC</a:t>
            </a:r>
            <a:r>
              <a:rPr lang="en-US" sz="2535">
                <a:solidFill>
                  <a:srgbClr val="FFFFFF"/>
                </a:solidFill>
                <a:latin typeface="Poppins"/>
                <a:ea typeface="Poppins"/>
                <a:cs typeface="Poppins"/>
                <a:sym typeface="Poppins"/>
              </a:rPr>
              <a:t>AL_PREF: Aynı ağ içinde tercih edilen yol → en yüksek değer seçilir.</a:t>
            </a:r>
          </a:p>
          <a:p>
            <a:pPr algn="just" marL="547362" indent="-273681" lvl="1">
              <a:lnSpc>
                <a:spcPts val="3549"/>
              </a:lnSpc>
              <a:buFont typeface="Arial"/>
              <a:buChar char="•"/>
            </a:pPr>
            <a:r>
              <a:rPr lang="en-US" sz="2535">
                <a:solidFill>
                  <a:srgbClr val="FFFFFF"/>
                </a:solidFill>
                <a:latin typeface="Poppins"/>
                <a:ea typeface="Poppins"/>
                <a:cs typeface="Poppins"/>
                <a:sym typeface="Poppins"/>
              </a:rPr>
              <a:t>M</a:t>
            </a:r>
            <a:r>
              <a:rPr lang="en-US" sz="2535">
                <a:solidFill>
                  <a:srgbClr val="FFFFFF"/>
                </a:solidFill>
                <a:latin typeface="Poppins"/>
                <a:ea typeface="Poppins"/>
                <a:cs typeface="Poppins"/>
                <a:sym typeface="Poppins"/>
              </a:rPr>
              <a:t>ED (Multi-Exit Discriminator): Farklı ağlardan çıkış tercihleri → en düşük değer seçilir.</a:t>
            </a:r>
          </a:p>
          <a:p>
            <a:pPr algn="just" marL="547362" indent="-273681" lvl="1">
              <a:lnSpc>
                <a:spcPts val="3549"/>
              </a:lnSpc>
              <a:buFont typeface="Arial"/>
              <a:buChar char="•"/>
            </a:pPr>
            <a:r>
              <a:rPr lang="en-US" sz="2535">
                <a:solidFill>
                  <a:srgbClr val="FFFFFF"/>
                </a:solidFill>
                <a:latin typeface="Poppins"/>
                <a:ea typeface="Poppins"/>
                <a:cs typeface="Poppins"/>
                <a:sym typeface="Poppins"/>
              </a:rPr>
              <a:t>ORI</a:t>
            </a:r>
            <a:r>
              <a:rPr lang="en-US" sz="2535">
                <a:solidFill>
                  <a:srgbClr val="FFFFFF"/>
                </a:solidFill>
                <a:latin typeface="Poppins"/>
                <a:ea typeface="Poppins"/>
                <a:cs typeface="Poppins"/>
                <a:sym typeface="Poppins"/>
              </a:rPr>
              <a:t>GIN: Rotanın kaynağı (iç ağ, dış ağ veya bilinmeyen).</a:t>
            </a:r>
          </a:p>
          <a:p>
            <a:pPr algn="just">
              <a:lnSpc>
                <a:spcPts val="3549"/>
              </a:lnSpc>
            </a:pPr>
          </a:p>
        </p:txBody>
      </p:sp>
      <p:sp>
        <p:nvSpPr>
          <p:cNvPr name="TextBox 5" id="5"/>
          <p:cNvSpPr txBox="true"/>
          <p:nvPr/>
        </p:nvSpPr>
        <p:spPr>
          <a:xfrm rot="0">
            <a:off x="9825395" y="985520"/>
            <a:ext cx="8037680" cy="2157730"/>
          </a:xfrm>
          <a:prstGeom prst="rect">
            <a:avLst/>
          </a:prstGeom>
        </p:spPr>
        <p:txBody>
          <a:bodyPr anchor="t" rtlCol="false" tIns="0" lIns="0" bIns="0" rIns="0">
            <a:spAutoFit/>
          </a:bodyPr>
          <a:lstStyle/>
          <a:p>
            <a:pPr algn="l">
              <a:lnSpc>
                <a:spcPts val="7909"/>
              </a:lnSpc>
            </a:pPr>
            <a:r>
              <a:rPr lang="en-US" sz="6999">
                <a:solidFill>
                  <a:srgbClr val="FFFFFF"/>
                </a:solidFill>
                <a:latin typeface="Impact"/>
                <a:ea typeface="Impact"/>
                <a:cs typeface="Impact"/>
                <a:sym typeface="Impact"/>
              </a:rPr>
              <a:t>BGP Yol Nitelikleri (Path Attributes)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3433588" y="5806884"/>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64621" y="-753127"/>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05653" y="1014095"/>
            <a:ext cx="8696162" cy="4669674"/>
          </a:xfrm>
          <a:prstGeom prst="rect">
            <a:avLst/>
          </a:prstGeom>
        </p:spPr>
        <p:txBody>
          <a:bodyPr anchor="t" rtlCol="false" tIns="0" lIns="0" bIns="0" rIns="0">
            <a:spAutoFit/>
          </a:bodyPr>
          <a:lstStyle/>
          <a:p>
            <a:pPr algn="just">
              <a:lnSpc>
                <a:spcPts val="3399"/>
              </a:lnSpc>
            </a:pPr>
            <a:r>
              <a:rPr lang="en-US" sz="2428">
                <a:solidFill>
                  <a:srgbClr val="FFFFFF"/>
                </a:solidFill>
                <a:latin typeface="Poppins"/>
                <a:ea typeface="Poppins"/>
                <a:cs typeface="Poppins"/>
                <a:sym typeface="Poppins"/>
              </a:rPr>
              <a:t>BGP, hedefe giden en iyi yolu belirlemek için aşağıdaki kuralları takip eder:</a:t>
            </a:r>
          </a:p>
          <a:p>
            <a:pPr algn="just" marL="524295" indent="-262147" lvl="1">
              <a:lnSpc>
                <a:spcPts val="3399"/>
              </a:lnSpc>
              <a:buAutoNum type="arabicPeriod" startAt="1"/>
            </a:pPr>
            <a:r>
              <a:rPr lang="en-US" sz="2428">
                <a:solidFill>
                  <a:srgbClr val="FFFFFF"/>
                </a:solidFill>
                <a:latin typeface="Poppins"/>
                <a:ea typeface="Poppins"/>
                <a:cs typeface="Poppins"/>
                <a:sym typeface="Poppins"/>
              </a:rPr>
              <a:t>E</a:t>
            </a:r>
            <a:r>
              <a:rPr lang="en-US" sz="2428">
                <a:solidFill>
                  <a:srgbClr val="FFFFFF"/>
                </a:solidFill>
                <a:latin typeface="Poppins"/>
                <a:ea typeface="Poppins"/>
                <a:cs typeface="Poppins"/>
                <a:sym typeface="Poppins"/>
              </a:rPr>
              <a:t>n yüksek </a:t>
            </a:r>
            <a:r>
              <a:rPr lang="en-US" sz="2428">
                <a:solidFill>
                  <a:srgbClr val="FFFFFF"/>
                </a:solidFill>
                <a:latin typeface="Poppins"/>
                <a:ea typeface="Poppins"/>
                <a:cs typeface="Poppins"/>
                <a:sym typeface="Poppins"/>
              </a:rPr>
              <a:t>LOC</a:t>
            </a:r>
            <a:r>
              <a:rPr lang="en-US" sz="2428">
                <a:solidFill>
                  <a:srgbClr val="FFFFFF"/>
                </a:solidFill>
                <a:latin typeface="Poppins"/>
                <a:ea typeface="Poppins"/>
                <a:cs typeface="Poppins"/>
                <a:sym typeface="Poppins"/>
              </a:rPr>
              <a:t>AL_PREF değeri tercih edilir.</a:t>
            </a:r>
          </a:p>
          <a:p>
            <a:pPr algn="just" marL="524295" indent="-262147" lvl="1">
              <a:lnSpc>
                <a:spcPts val="3399"/>
              </a:lnSpc>
              <a:buAutoNum type="arabicPeriod" startAt="1"/>
            </a:pPr>
            <a:r>
              <a:rPr lang="en-US" sz="2428">
                <a:solidFill>
                  <a:srgbClr val="FFFFFF"/>
                </a:solidFill>
                <a:latin typeface="Poppins"/>
                <a:ea typeface="Poppins"/>
                <a:cs typeface="Poppins"/>
                <a:sym typeface="Poppins"/>
              </a:rPr>
              <a:t>En kısa AS_PATH tercih edilir.</a:t>
            </a:r>
          </a:p>
          <a:p>
            <a:pPr algn="just" marL="524295" indent="-262147" lvl="1">
              <a:lnSpc>
                <a:spcPts val="3399"/>
              </a:lnSpc>
              <a:buAutoNum type="arabicPeriod" startAt="1"/>
            </a:pPr>
            <a:r>
              <a:rPr lang="en-US" sz="2428">
                <a:solidFill>
                  <a:srgbClr val="FFFFFF"/>
                </a:solidFill>
                <a:latin typeface="Poppins"/>
                <a:ea typeface="Poppins"/>
                <a:cs typeface="Poppins"/>
                <a:sym typeface="Poppins"/>
              </a:rPr>
              <a:t>En düşük </a:t>
            </a:r>
            <a:r>
              <a:rPr lang="en-US" sz="2428">
                <a:solidFill>
                  <a:srgbClr val="FFFFFF"/>
                </a:solidFill>
                <a:latin typeface="Poppins"/>
                <a:ea typeface="Poppins"/>
                <a:cs typeface="Poppins"/>
                <a:sym typeface="Poppins"/>
              </a:rPr>
              <a:t>M</a:t>
            </a:r>
            <a:r>
              <a:rPr lang="en-US" sz="2428">
                <a:solidFill>
                  <a:srgbClr val="FFFFFF"/>
                </a:solidFill>
                <a:latin typeface="Poppins"/>
                <a:ea typeface="Poppins"/>
                <a:cs typeface="Poppins"/>
                <a:sym typeface="Poppins"/>
              </a:rPr>
              <a:t>ED (Multi-Exit Discriminator) değeri tercih edilir.</a:t>
            </a:r>
          </a:p>
          <a:p>
            <a:pPr algn="just" marL="524295" indent="-262147" lvl="1">
              <a:lnSpc>
                <a:spcPts val="3399"/>
              </a:lnSpc>
              <a:buAutoNum type="arabicPeriod" startAt="1"/>
            </a:pPr>
            <a:r>
              <a:rPr lang="en-US" sz="2428">
                <a:solidFill>
                  <a:srgbClr val="FFFFFF"/>
                </a:solidFill>
                <a:latin typeface="Poppins"/>
                <a:ea typeface="Poppins"/>
                <a:cs typeface="Poppins"/>
                <a:sym typeface="Poppins"/>
              </a:rPr>
              <a:t>iBGP’den öğrenilen rotalar, eBGP’den öğrenilen rotalara göre önceliklidir.</a:t>
            </a:r>
          </a:p>
          <a:p>
            <a:pPr algn="just" marL="524295" indent="-262147" lvl="1">
              <a:lnSpc>
                <a:spcPts val="3399"/>
              </a:lnSpc>
              <a:buAutoNum type="arabicPeriod" startAt="1"/>
            </a:pPr>
            <a:r>
              <a:rPr lang="en-US" sz="2428">
                <a:solidFill>
                  <a:srgbClr val="FFFFFF"/>
                </a:solidFill>
                <a:latin typeface="Poppins"/>
                <a:ea typeface="Poppins"/>
                <a:cs typeface="Poppins"/>
                <a:sym typeface="Poppins"/>
              </a:rPr>
              <a:t>En düşük IGP metriğine sahip NEXT_HOP tercih edilir.</a:t>
            </a:r>
          </a:p>
          <a:p>
            <a:pPr algn="just" marL="524295" indent="-262147" lvl="1">
              <a:lnSpc>
                <a:spcPts val="3399"/>
              </a:lnSpc>
              <a:buAutoNum type="arabicPeriod" startAt="1"/>
            </a:pPr>
            <a:r>
              <a:rPr lang="en-US" sz="2428">
                <a:solidFill>
                  <a:srgbClr val="FFFFFF"/>
                </a:solidFill>
                <a:latin typeface="Poppins"/>
                <a:ea typeface="Poppins"/>
                <a:cs typeface="Poppins"/>
                <a:sym typeface="Poppins"/>
              </a:rPr>
              <a:t>En eski B</a:t>
            </a:r>
            <a:r>
              <a:rPr lang="en-US" sz="2428">
                <a:solidFill>
                  <a:srgbClr val="FFFFFF"/>
                </a:solidFill>
                <a:latin typeface="Poppins"/>
                <a:ea typeface="Poppins"/>
                <a:cs typeface="Poppins"/>
                <a:sym typeface="Poppins"/>
              </a:rPr>
              <a:t>GP oturumu olan yol tercih edilir.</a:t>
            </a:r>
          </a:p>
          <a:p>
            <a:pPr algn="just">
              <a:lnSpc>
                <a:spcPts val="3399"/>
              </a:lnSpc>
            </a:pPr>
          </a:p>
        </p:txBody>
      </p:sp>
      <p:sp>
        <p:nvSpPr>
          <p:cNvPr name="TextBox 5" id="5"/>
          <p:cNvSpPr txBox="true"/>
          <p:nvPr/>
        </p:nvSpPr>
        <p:spPr>
          <a:xfrm rot="0">
            <a:off x="9825395" y="985520"/>
            <a:ext cx="8037680" cy="3157855"/>
          </a:xfrm>
          <a:prstGeom prst="rect">
            <a:avLst/>
          </a:prstGeom>
        </p:spPr>
        <p:txBody>
          <a:bodyPr anchor="t" rtlCol="false" tIns="0" lIns="0" bIns="0" rIns="0">
            <a:spAutoFit/>
          </a:bodyPr>
          <a:lstStyle/>
          <a:p>
            <a:pPr algn="l">
              <a:lnSpc>
                <a:spcPts val="7909"/>
              </a:lnSpc>
            </a:pPr>
            <a:r>
              <a:rPr lang="en-US" sz="6999">
                <a:solidFill>
                  <a:srgbClr val="FFFFFF"/>
                </a:solidFill>
                <a:latin typeface="Impact"/>
                <a:ea typeface="Impact"/>
                <a:cs typeface="Impact"/>
                <a:sym typeface="Impact"/>
              </a:rPr>
              <a:t>BGP Best Path Selection (En İyi Yol Seçimi)</a:t>
            </a:r>
          </a:p>
          <a:p>
            <a:pPr algn="l">
              <a:lnSpc>
                <a:spcPts val="790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3433588" y="5806884"/>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64621" y="-753127"/>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14474" y="2552834"/>
            <a:ext cx="8118900" cy="2780472"/>
          </a:xfrm>
          <a:prstGeom prst="rect">
            <a:avLst/>
          </a:prstGeom>
        </p:spPr>
        <p:txBody>
          <a:bodyPr anchor="t" rtlCol="false" tIns="0" lIns="0" bIns="0" rIns="0">
            <a:spAutoFit/>
          </a:bodyPr>
          <a:lstStyle/>
          <a:p>
            <a:pPr algn="just">
              <a:lnSpc>
                <a:spcPts val="3174"/>
              </a:lnSpc>
            </a:pPr>
            <a:r>
              <a:rPr lang="en-US" sz="2267">
                <a:solidFill>
                  <a:srgbClr val="FFFFFF"/>
                </a:solidFill>
                <a:latin typeface="Poppins"/>
                <a:ea typeface="Poppins"/>
                <a:cs typeface="Poppins"/>
                <a:sym typeface="Poppins"/>
              </a:rPr>
              <a:t>BGP, dünya çapında internet trafiğinin yönlendirilmesini sağlayan en önemli protokoldür. Komşuluk (peering) ilişkileri, BGP mesaj türleri ve FSM mantığı ile çalışan BGP, Path Attributes </a:t>
            </a:r>
            <a:r>
              <a:rPr lang="en-US" sz="2267">
                <a:solidFill>
                  <a:srgbClr val="FFFFFF"/>
                </a:solidFill>
                <a:latin typeface="Poppins"/>
                <a:ea typeface="Poppins"/>
                <a:cs typeface="Poppins"/>
                <a:sym typeface="Poppins"/>
              </a:rPr>
              <a:t>k</a:t>
            </a:r>
            <a:r>
              <a:rPr lang="en-US" sz="2267">
                <a:solidFill>
                  <a:srgbClr val="FFFFFF"/>
                </a:solidFill>
                <a:latin typeface="Poppins"/>
                <a:ea typeface="Poppins"/>
                <a:cs typeface="Poppins"/>
                <a:sym typeface="Poppins"/>
              </a:rPr>
              <a:t>ullanarak politika tabanlı yönlendirme yapar. BGP’nin çalışma prensiplerini anlamak, ağ mühendisleri için ağ tasarımı ve yö</a:t>
            </a:r>
            <a:r>
              <a:rPr lang="en-US" sz="2267">
                <a:solidFill>
                  <a:srgbClr val="FFFFFF"/>
                </a:solidFill>
                <a:latin typeface="Poppins"/>
                <a:ea typeface="Poppins"/>
                <a:cs typeface="Poppins"/>
                <a:sym typeface="Poppins"/>
              </a:rPr>
              <a:t>ne</a:t>
            </a:r>
            <a:r>
              <a:rPr lang="en-US" sz="2267">
                <a:solidFill>
                  <a:srgbClr val="FFFFFF"/>
                </a:solidFill>
                <a:latin typeface="Poppins"/>
                <a:ea typeface="Poppins"/>
                <a:cs typeface="Poppins"/>
                <a:sym typeface="Poppins"/>
              </a:rPr>
              <a:t>timi açısından kritik bir adımdır.</a:t>
            </a:r>
          </a:p>
        </p:txBody>
      </p:sp>
      <p:sp>
        <p:nvSpPr>
          <p:cNvPr name="TextBox 5" id="5"/>
          <p:cNvSpPr txBox="true"/>
          <p:nvPr/>
        </p:nvSpPr>
        <p:spPr>
          <a:xfrm rot="0">
            <a:off x="795695" y="609434"/>
            <a:ext cx="8037680" cy="1157605"/>
          </a:xfrm>
          <a:prstGeom prst="rect">
            <a:avLst/>
          </a:prstGeom>
        </p:spPr>
        <p:txBody>
          <a:bodyPr anchor="t" rtlCol="false" tIns="0" lIns="0" bIns="0" rIns="0">
            <a:spAutoFit/>
          </a:bodyPr>
          <a:lstStyle/>
          <a:p>
            <a:pPr algn="l">
              <a:lnSpc>
                <a:spcPts val="7909"/>
              </a:lnSpc>
            </a:pPr>
            <a:r>
              <a:rPr lang="en-US" sz="6999">
                <a:solidFill>
                  <a:srgbClr val="FFFFFF"/>
                </a:solidFill>
                <a:latin typeface="Impact"/>
                <a:ea typeface="Impact"/>
                <a:cs typeface="Impact"/>
                <a:sym typeface="Impact"/>
              </a:rPr>
              <a:t>BGP AVANTAJLARI</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3433588" y="5806884"/>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64621" y="-753127"/>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14474" y="2552834"/>
            <a:ext cx="8118900" cy="2780472"/>
          </a:xfrm>
          <a:prstGeom prst="rect">
            <a:avLst/>
          </a:prstGeom>
        </p:spPr>
        <p:txBody>
          <a:bodyPr anchor="t" rtlCol="false" tIns="0" lIns="0" bIns="0" rIns="0">
            <a:spAutoFit/>
          </a:bodyPr>
          <a:lstStyle/>
          <a:p>
            <a:pPr algn="just">
              <a:lnSpc>
                <a:spcPts val="3174"/>
              </a:lnSpc>
            </a:pPr>
            <a:r>
              <a:rPr lang="en-US" sz="2267">
                <a:solidFill>
                  <a:srgbClr val="FFFFFF"/>
                </a:solidFill>
                <a:latin typeface="Poppins"/>
                <a:ea typeface="Poppins"/>
                <a:cs typeface="Poppins"/>
                <a:sym typeface="Poppins"/>
              </a:rPr>
              <a:t>BGP, dünya çapında internet trafiğinin yönlendirilmesini sağlayan en önemli protokoldür. Komşuluk (peering) ilişkileri, BGP mesaj türleri ve FSM mantığı ile çalışan BGP, Path Attributes </a:t>
            </a:r>
            <a:r>
              <a:rPr lang="en-US" sz="2267">
                <a:solidFill>
                  <a:srgbClr val="FFFFFF"/>
                </a:solidFill>
                <a:latin typeface="Poppins"/>
                <a:ea typeface="Poppins"/>
                <a:cs typeface="Poppins"/>
                <a:sym typeface="Poppins"/>
              </a:rPr>
              <a:t>k</a:t>
            </a:r>
            <a:r>
              <a:rPr lang="en-US" sz="2267">
                <a:solidFill>
                  <a:srgbClr val="FFFFFF"/>
                </a:solidFill>
                <a:latin typeface="Poppins"/>
                <a:ea typeface="Poppins"/>
                <a:cs typeface="Poppins"/>
                <a:sym typeface="Poppins"/>
              </a:rPr>
              <a:t>ullanarak politika tabanlı yönlendirme yapar. BGP’nin çalışma prensiplerini anlamak, ağ mühendisleri için ağ tasarımı ve yö</a:t>
            </a:r>
            <a:r>
              <a:rPr lang="en-US" sz="2267">
                <a:solidFill>
                  <a:srgbClr val="FFFFFF"/>
                </a:solidFill>
                <a:latin typeface="Poppins"/>
                <a:ea typeface="Poppins"/>
                <a:cs typeface="Poppins"/>
                <a:sym typeface="Poppins"/>
              </a:rPr>
              <a:t>ne</a:t>
            </a:r>
            <a:r>
              <a:rPr lang="en-US" sz="2267">
                <a:solidFill>
                  <a:srgbClr val="FFFFFF"/>
                </a:solidFill>
                <a:latin typeface="Poppins"/>
                <a:ea typeface="Poppins"/>
                <a:cs typeface="Poppins"/>
                <a:sym typeface="Poppins"/>
              </a:rPr>
              <a:t>timi açısından kritik bir adımdır.</a:t>
            </a:r>
          </a:p>
        </p:txBody>
      </p:sp>
      <p:sp>
        <p:nvSpPr>
          <p:cNvPr name="TextBox 5" id="5"/>
          <p:cNvSpPr txBox="true"/>
          <p:nvPr/>
        </p:nvSpPr>
        <p:spPr>
          <a:xfrm rot="0">
            <a:off x="795695" y="609434"/>
            <a:ext cx="8037680" cy="1157605"/>
          </a:xfrm>
          <a:prstGeom prst="rect">
            <a:avLst/>
          </a:prstGeom>
        </p:spPr>
        <p:txBody>
          <a:bodyPr anchor="t" rtlCol="false" tIns="0" lIns="0" bIns="0" rIns="0">
            <a:spAutoFit/>
          </a:bodyPr>
          <a:lstStyle/>
          <a:p>
            <a:pPr algn="l">
              <a:lnSpc>
                <a:spcPts val="7909"/>
              </a:lnSpc>
            </a:pPr>
            <a:r>
              <a:rPr lang="en-US" sz="6999">
                <a:solidFill>
                  <a:srgbClr val="FFFFFF"/>
                </a:solidFill>
                <a:latin typeface="Impact"/>
                <a:ea typeface="Impact"/>
                <a:cs typeface="Impact"/>
                <a:sym typeface="Impact"/>
              </a:rPr>
              <a:t>BGP DEZAVANTAJLARI</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3433588" y="5806884"/>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64621" y="-753127"/>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14474" y="2552834"/>
            <a:ext cx="8118900" cy="2780472"/>
          </a:xfrm>
          <a:prstGeom prst="rect">
            <a:avLst/>
          </a:prstGeom>
        </p:spPr>
        <p:txBody>
          <a:bodyPr anchor="t" rtlCol="false" tIns="0" lIns="0" bIns="0" rIns="0">
            <a:spAutoFit/>
          </a:bodyPr>
          <a:lstStyle/>
          <a:p>
            <a:pPr algn="just">
              <a:lnSpc>
                <a:spcPts val="3174"/>
              </a:lnSpc>
            </a:pPr>
            <a:r>
              <a:rPr lang="en-US" sz="2267">
                <a:solidFill>
                  <a:srgbClr val="FFFFFF"/>
                </a:solidFill>
                <a:latin typeface="Poppins"/>
                <a:ea typeface="Poppins"/>
                <a:cs typeface="Poppins"/>
                <a:sym typeface="Poppins"/>
              </a:rPr>
              <a:t>BGP, dünya çapında internet trafiğinin yönlendirilmesini sağlayan en önemli protokoldür. Komşuluk (peering) ilişkileri, BGP mesaj türleri ve FSM mantığı ile çalışan BGP, Path Attributes </a:t>
            </a:r>
            <a:r>
              <a:rPr lang="en-US" sz="2267">
                <a:solidFill>
                  <a:srgbClr val="FFFFFF"/>
                </a:solidFill>
                <a:latin typeface="Poppins"/>
                <a:ea typeface="Poppins"/>
                <a:cs typeface="Poppins"/>
                <a:sym typeface="Poppins"/>
              </a:rPr>
              <a:t>k</a:t>
            </a:r>
            <a:r>
              <a:rPr lang="en-US" sz="2267">
                <a:solidFill>
                  <a:srgbClr val="FFFFFF"/>
                </a:solidFill>
                <a:latin typeface="Poppins"/>
                <a:ea typeface="Poppins"/>
                <a:cs typeface="Poppins"/>
                <a:sym typeface="Poppins"/>
              </a:rPr>
              <a:t>ullanarak politika tabanlı yönlendirme yapar. BGP’nin çalışma prensiplerini anlamak, ağ mühendisleri için ağ tasarımı ve yö</a:t>
            </a:r>
            <a:r>
              <a:rPr lang="en-US" sz="2267">
                <a:solidFill>
                  <a:srgbClr val="FFFFFF"/>
                </a:solidFill>
                <a:latin typeface="Poppins"/>
                <a:ea typeface="Poppins"/>
                <a:cs typeface="Poppins"/>
                <a:sym typeface="Poppins"/>
              </a:rPr>
              <a:t>ne</a:t>
            </a:r>
            <a:r>
              <a:rPr lang="en-US" sz="2267">
                <a:solidFill>
                  <a:srgbClr val="FFFFFF"/>
                </a:solidFill>
                <a:latin typeface="Poppins"/>
                <a:ea typeface="Poppins"/>
                <a:cs typeface="Poppins"/>
                <a:sym typeface="Poppins"/>
              </a:rPr>
              <a:t>timi açısından kritik bir adımdır.</a:t>
            </a:r>
          </a:p>
        </p:txBody>
      </p:sp>
      <p:sp>
        <p:nvSpPr>
          <p:cNvPr name="TextBox 5" id="5"/>
          <p:cNvSpPr txBox="true"/>
          <p:nvPr/>
        </p:nvSpPr>
        <p:spPr>
          <a:xfrm rot="0">
            <a:off x="795695" y="609434"/>
            <a:ext cx="8037680" cy="1157605"/>
          </a:xfrm>
          <a:prstGeom prst="rect">
            <a:avLst/>
          </a:prstGeom>
        </p:spPr>
        <p:txBody>
          <a:bodyPr anchor="t" rtlCol="false" tIns="0" lIns="0" bIns="0" rIns="0">
            <a:spAutoFit/>
          </a:bodyPr>
          <a:lstStyle/>
          <a:p>
            <a:pPr algn="l">
              <a:lnSpc>
                <a:spcPts val="7909"/>
              </a:lnSpc>
            </a:pPr>
            <a:r>
              <a:rPr lang="en-US" sz="6999">
                <a:solidFill>
                  <a:srgbClr val="FFFFFF"/>
                </a:solidFill>
                <a:latin typeface="Impact"/>
                <a:ea typeface="Impact"/>
                <a:cs typeface="Impact"/>
                <a:sym typeface="Impact"/>
              </a:rPr>
              <a:t>SONUÇ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DAG3x29WocM</dc:identifier>
  <dcterms:modified xsi:type="dcterms:W3CDTF">2011-08-01T06:04:30Z</dcterms:modified>
  <cp:revision>1</cp:revision>
  <dc:title>BGP</dc:title>
</cp:coreProperties>
</file>